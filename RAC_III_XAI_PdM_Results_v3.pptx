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C00"/>
                </a:solidFill>
                <a:latin typeface="Calibri"/>
              </a:defRPr>
            </a:pPr>
            <a:r>
              <a:t>RAC –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Research Title: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"Explainable AI-Driven Predictive Maintenance Framework</a:t>
            </a:r>
            <a:br/>
            <a:r>
              <a:t>for Smart Manufacturing"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Name of the Scholar : C Anurag Reddy</a:t>
            </a:r>
            <a:br/>
            <a:r>
              <a:t>Registration Number : 25CPHDFF006</a:t>
            </a:r>
            <a:br/>
            <a:r>
              <a:t>Affiliation : CMR University, Bangalore</a:t>
            </a:r>
            <a:br/>
            <a:r>
              <a:t>Guide : Dr. Kannan N, Dean, CMR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F00"/>
                </a:solidFill>
                <a:latin typeface="Calibri"/>
              </a:defRPr>
            </a:pPr>
            <a:r>
              <a:t>RAC-III: Results &amp; Progress Report | All results from ACTUAL experiments on C-MAPSS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Journey: RAC-I → RAC-II → RAC-III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RAC-I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Problem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Broad proposal → Narrow to</a:t>
            </a:r>
            <a:br/>
            <a:r>
              <a:t>XAI + PdM + Manufacturing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47472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RAC-II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2-paper strategy, PRISMA</a:t>
            </a:r>
            <a:br/>
            <a:r>
              <a:t>protocol, model 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47472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RAC-III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Paper 1 SLR: DONE</a:t>
            </a:r>
            <a:br/>
            <a:r>
              <a:t>Paper 2 Empirical: DONE</a:t>
            </a:r>
            <a:br/>
            <a:r>
              <a:t>Ready to submit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Paper 1: SLR Results — PRISMA Flow</a:t>
            </a:r>
          </a:p>
        </p:txBody>
      </p:sp>
      <p:pic>
        <p:nvPicPr>
          <p:cNvPr id="5" name="Picture 4" descr="Fig1_PRISMA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572000" cy="56465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Key SLR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847 records → 50 studies synthesized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SHAP dominates (38%), Attention (28%), LIME (16%)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LSTM most common (36%), Transformer fastest-growing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Turbofan (32%) + Bearings (24%) = 56% of studies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42% rely on visual inspection for XAI evaluation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Only 8% include user studies (major gap!)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Proposed 4D taxonomy + 5-direction research 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Paper 1: Four-Dimensional Taxonomy</a:t>
            </a:r>
          </a:p>
        </p:txBody>
      </p:sp>
      <p:pic>
        <p:nvPicPr>
          <p:cNvPr id="5" name="Picture 4" descr="Fig7_Taxonomy_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87369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Paper 2: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C-MAPSS Dataset: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FD001: 100 engines, 1 condition, 1 fault (HPC)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FD003: 100 engines, 1 condition, 2 faults (HPC+Fan)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17,731 train sequences (FD001), 21,820 (FD003)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14 useful sensors after removing constant ones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Window: 30 cycles | RUL clip: 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Models: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Bi-LSTM: 2 layers (64→32), bidirectional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Transformer: 2 blocks, 4-head attention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CNN-LSTM: Conv1D(64) × 2 + LSTM(64→32)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Adam optimizer, lr=0.001, early stopping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Permutation-based feature importance for XAI</a:t>
            </a:r>
          </a:p>
        </p:txBody>
      </p:sp>
      <p:pic>
        <p:nvPicPr>
          <p:cNvPr id="9" name="Picture 8" descr="Degradation_Example_FD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8686800" cy="6061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Paper 2: Model Comparison (REAL RESULTS)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44506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CNN-LSTM: BEST (RMSE 14.03/14.53)  |  Bi-LSTM: Competitive (14.79/15.78)  |  Transformer: Weaker (18.53/18.45)</a:t>
            </a:r>
            <a:br/>
            <a:r>
              <a:t>Key insight: CNN-LSTM combines local features (CNN) + temporal modeling (LSTM) = optimal for short-sequence degradation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Best Model: CNN-LSTM — RUL Predictions</a:t>
            </a:r>
          </a:p>
        </p:txBody>
      </p:sp>
      <p:pic>
        <p:nvPicPr>
          <p:cNvPr id="5" name="Picture 4" descr="RUL_Pred_CNN-LSTM_FD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4247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FD001: RMSE=14.03 | MAE=10.45 | R²=0.886 | Score=317.45</a:t>
            </a:r>
            <a:br/>
            <a:r>
              <a:t>• Predictions cluster around ideal line (left plot)</a:t>
            </a:r>
            <a:br/>
            <a:r>
              <a:t>• Error distribution centered near zero with slight early-prediction bias (safer in practice)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Bi-LSTM — RUL Predictions</a:t>
            </a:r>
          </a:p>
        </p:txBody>
      </p:sp>
      <p:pic>
        <p:nvPicPr>
          <p:cNvPr id="5" name="Picture 4" descr="RUL_Pred_Bi-LSTM_FD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4247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FD001: RMSE=14.79 | MAE=11.03 | R²=0.873 | Score=395.74</a:t>
            </a:r>
            <a:br/>
            <a:r>
              <a:t>• Competitive with CNN-LSTM but simpler architecture</a:t>
            </a:r>
            <a:br/>
            <a:r>
              <a:t>• Recommended for resource-constrained deployment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Dynamics</a:t>
            </a:r>
          </a:p>
        </p:txBody>
      </p:sp>
      <p:pic>
        <p:nvPicPr>
          <p:cNvPr id="5" name="Picture 4" descr="Training_CNN-LSTM_FD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3639096"/>
          </a:xfrm>
          <a:prstGeom prst="rect">
            <a:avLst/>
          </a:prstGeom>
        </p:spPr>
      </p:pic>
      <p:pic>
        <p:nvPicPr>
          <p:cNvPr id="6" name="Picture 5" descr="Training_Transformer_FD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486400" cy="3637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CNN-LSTM: Smooth convergence, 33 epochs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F00"/>
                </a:solidFill>
                <a:latin typeface="Calibri"/>
              </a:defRPr>
            </a:pPr>
            <a:r>
              <a:t>Transformer: Fast but higher final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CNN-LSTM and Bi-LSTM converge smoothly with val loss tracking train loss (good generalization)</a:t>
            </a:r>
            <a:br/>
            <a:r>
              <a:t>• Transformer converges faster (early stop ~29 epochs) but to higher loss — insufficient data/sequence length for full attention benefit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XAI: Feature Importance — CNN-LSTM vs Bi-LSTM</a:t>
            </a:r>
          </a:p>
        </p:txBody>
      </p:sp>
      <p:pic>
        <p:nvPicPr>
          <p:cNvPr id="5" name="Picture 4" descr="SHAP_CNN-LSTM_FD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583802"/>
          </a:xfrm>
          <a:prstGeom prst="rect">
            <a:avLst/>
          </a:prstGeom>
        </p:spPr>
      </p:pic>
      <p:pic>
        <p:nvPicPr>
          <p:cNvPr id="6" name="Picture 5" descr="SHAP_Bi-LSTM_FD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583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Cross-model consistency: Both models rank sensors 7, 8, 11, 12 as top features</a:t>
            </a:r>
            <a:br/>
            <a:r>
              <a:t>Physical meaning: Temperature (s7), Pressure (s8, s11), Fuel flow ratio (s12) — all HPC degradation indicators</a:t>
            </a:r>
            <a:br/>
            <a:r>
              <a:t>This agreement validates that explanations reflect genuine physics, not model artifacts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XAI: Multi-Fault Analysis (FD003 — 2 faults)</a:t>
            </a:r>
          </a:p>
        </p:txBody>
      </p:sp>
      <p:pic>
        <p:nvPicPr>
          <p:cNvPr id="5" name="Picture 4" descr="SHAP_CNN-LSTM_FD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583802"/>
          </a:xfrm>
          <a:prstGeom prst="rect">
            <a:avLst/>
          </a:prstGeom>
        </p:spPr>
      </p:pic>
      <p:pic>
        <p:nvPicPr>
          <p:cNvPr id="6" name="Picture 5" descr="SHAP_Bi-LSTM_FD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583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FD003 shift: sensor_20 (bleed enthalpy) and sensor_15 (bypass ratio) gain importance</a:t>
            </a:r>
            <a:br/>
            <a:r>
              <a:t>These sensors are physically associated with FAN degradation — the additional fault mode in FD003</a:t>
            </a:r>
            <a:br/>
            <a:r>
              <a:t>→ Feature importance shift provides implicit FAULT MODE DISCRIMINATION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Transformer: Attention &amp; Temporal Activation</a:t>
            </a:r>
          </a:p>
        </p:txBody>
      </p:sp>
      <p:pic>
        <p:nvPicPr>
          <p:cNvPr id="5" name="Picture 4" descr="Attention_Transformer_FD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515600" cy="5628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Temporal concentration toward later time steps (approaching failure) confirms model focuses on recent degradation</a:t>
            </a:r>
            <a:br/>
            <a:r>
              <a:t>Built-in attention provides 'free' temporal explainability without post-hoc computation</a:t>
            </a:r>
            <a:br/>
            <a:r>
              <a:t>However, Transformer's weaker accuracy means attention alone doesn't guarantee good RUL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Contributions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First PRISMA SLR at XAI-PdM-Manufacturing intersection (50 papers, 4D taxonomy, 6 gaps)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Multi-architecture comparison (Bi-LSTM, Transformer, CNN-LSTM) with consistent XAI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C3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Cross-model feature importance validation — proves explanations reflect 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C4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Implicit fault mode discrimination via feature importance shift (FD001→FD003)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C5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5-direction research agenda: Temporal XAI, Metrics, Multi-Stakeholder, Causal,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Publication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Paper 1: SLR — COMPLETE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IEEE Access format, 8 figures, 5 tables, 50 refs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Unique: First PRISMA SLR at this intersection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Target: IEEE Access (Q1 Scopus)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Paper 2: Empirical — COMPLETE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IEEE Access format, 10 figures, 4 tables, 25 refs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Real experiments: 3 models × 2 datasets × XAI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Target: IEEE Access (Q1 Scopus)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F00"/>
                </a:solidFill>
                <a:latin typeface="Calibri"/>
              </a:defRPr>
            </a:pPr>
            <a:r>
              <a:t>Remaining Work: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Submit both papers to IEEE Access (Month 1-2)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Optional: Extend experiments to AI4I 2020 + CWRU Bearing (Month 2-3)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Thesis compilation: Chapters derived from papers (Month 3-5)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Plagiarism check, formatting, guide approval (Month 5-6)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Viva preparation (Month 6-7)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[1] Matzka (2020) — Explainable AI for PdM, AI4I Conf.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[2] Cummins et al. (2024) — Explainable PdM Survey,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[3] Gawde et al. (2024) — LIME/SHAP/PDP/ICE for rotating machines, IEEE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[4] Chen et al. (2020) — Attention-based RUL, IEEE Trans. IE (566 citations)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[5] Zhang et al. (2022) — Bi-GRU + Self-Attention, RESS (360 citations)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[6] Zhang et al. (2022) — Dual-Aspect Transformer, IEEE TIM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[7] Yu et al. (2021) — Transformer + Gated CNN, J. Intell. Manuf.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[8] Ali et al. (2023) — XAI Review, Inf. Fusion (1,368 citations)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[9] Arias Chao et al. (2021) — C-MAPSS Dataset,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[10] Theissler et al. (2022) — XAI for Time Series, IEEE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RAC-III: Results &amp; Progress Report</a:t>
            </a:r>
            <a:br/>
            <a:br/>
            <a:r>
              <a:t>C. Anurag Reddy  |  25CPHDFF006  |  CMR University</a:t>
            </a:r>
            <a:br/>
            <a:r>
              <a:t>Guide: Dr. Kannan N, Dean, CMR University</a:t>
            </a:r>
            <a:br/>
            <a:br/>
            <a:r>
              <a:t>All results from actual experiments — code &amp; data available</a:t>
            </a:r>
            <a:br/>
            <a:r>
              <a:t>Questions &amp; Suggestions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